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80" r:id="rId2"/>
    <p:sldId id="260" r:id="rId3"/>
    <p:sldId id="264" r:id="rId4"/>
    <p:sldId id="270" r:id="rId5"/>
    <p:sldId id="274" r:id="rId6"/>
    <p:sldId id="283" r:id="rId7"/>
    <p:sldId id="284" r:id="rId8"/>
    <p:sldId id="285" r:id="rId9"/>
    <p:sldId id="286" r:id="rId10"/>
    <p:sldId id="291" r:id="rId11"/>
    <p:sldId id="292" r:id="rId12"/>
    <p:sldId id="293" r:id="rId13"/>
    <p:sldId id="294" r:id="rId14"/>
    <p:sldId id="296" r:id="rId15"/>
    <p:sldId id="297" r:id="rId16"/>
    <p:sldId id="271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445"/>
    <a:srgbClr val="9C5D71"/>
    <a:srgbClr val="3BBEBE"/>
    <a:srgbClr val="F25245"/>
    <a:srgbClr val="695E78"/>
    <a:srgbClr val="FFA956"/>
    <a:srgbClr val="EF6E9A"/>
    <a:srgbClr val="A761D3"/>
    <a:srgbClr val="D45CA6"/>
    <a:srgbClr val="D871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9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9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1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0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0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8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43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7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09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263564-0953-4622-A708-A4341647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AA1B24-6C24-4CCD-B8C9-2C5D6830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2E890B-79AB-4C43-9662-155EEA93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590C9ED6-4E1A-4812-A678-2159E90D43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693738"/>
            <a:ext cx="10796587" cy="544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1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28C92AE-8981-45B2-A82B-CA436A0E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69A7F8-CA5C-47C9-B9E2-EF5BE966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EA8A6B-BAE0-461A-A898-0652F34A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xmlns="" id="{A0EAFB50-F9FE-425D-B5A4-CAD975C9A2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9365" y="703830"/>
            <a:ext cx="5035723" cy="5447169"/>
          </a:xfrm>
          <a:custGeom>
            <a:avLst/>
            <a:gdLst>
              <a:gd name="connsiteX0" fmla="*/ 1022196 w 5035723"/>
              <a:gd name="connsiteY0" fmla="*/ 0 h 5447169"/>
              <a:gd name="connsiteX1" fmla="*/ 5035723 w 5035723"/>
              <a:gd name="connsiteY1" fmla="*/ 0 h 5447169"/>
              <a:gd name="connsiteX2" fmla="*/ 5035723 w 5035723"/>
              <a:gd name="connsiteY2" fmla="*/ 5447169 h 5447169"/>
              <a:gd name="connsiteX3" fmla="*/ 1025082 w 5035723"/>
              <a:gd name="connsiteY3" fmla="*/ 5447169 h 5447169"/>
              <a:gd name="connsiteX4" fmla="*/ 947777 w 5035723"/>
              <a:gd name="connsiteY4" fmla="*/ 5362113 h 5447169"/>
              <a:gd name="connsiteX5" fmla="*/ 0 w 5035723"/>
              <a:gd name="connsiteY5" fmla="*/ 2721997 h 5447169"/>
              <a:gd name="connsiteX6" fmla="*/ 947777 w 5035723"/>
              <a:gd name="connsiteY6" fmla="*/ 81882 h 544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35723" h="5447169">
                <a:moveTo>
                  <a:pt x="1022196" y="0"/>
                </a:moveTo>
                <a:lnTo>
                  <a:pt x="5035723" y="0"/>
                </a:lnTo>
                <a:lnTo>
                  <a:pt x="5035723" y="5447169"/>
                </a:lnTo>
                <a:lnTo>
                  <a:pt x="1025082" y="5447169"/>
                </a:lnTo>
                <a:lnTo>
                  <a:pt x="947777" y="5362113"/>
                </a:lnTo>
                <a:cubicBezTo>
                  <a:pt x="355681" y="4644658"/>
                  <a:pt x="0" y="3724865"/>
                  <a:pt x="0" y="2721997"/>
                </a:cubicBezTo>
                <a:cubicBezTo>
                  <a:pt x="0" y="1719130"/>
                  <a:pt x="355681" y="799336"/>
                  <a:pt x="947777" y="8188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59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4F555C4-27F7-467A-9AF6-630F6B00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FA1C95A-1709-4B29-9F29-E98007CA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7739E94-CC89-4EA9-A8FA-64E628F2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29C241C9-AB3E-447C-B7F1-89C740012F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024" y="2489200"/>
            <a:ext cx="10774363" cy="2470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939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263564-0953-4622-A708-A4341647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AA1B24-6C24-4CCD-B8C9-2C5D6830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2E890B-79AB-4C43-9662-155EEA93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590C9ED6-4E1A-4812-A678-2159E90D43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693738"/>
            <a:ext cx="10796587" cy="544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27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9FB4F0-E528-428D-9D87-007D7520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F69FCD-1112-4D38-B7C2-7F9753E0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D59A6B-6F61-49E1-AB57-EE2138FE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24EF5B96-4C8B-419C-B56E-CB192D100A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334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xmlns="" id="{BA6A5DD2-589F-4818-8FFC-626CCBF78C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8650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08256EF0-1AE4-4A2C-833A-696429ED54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966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xmlns="" id="{CC894DD2-2348-4450-881E-7E4EBC97BA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82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21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86E6C6-6E94-4622-AF50-AB9F71E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B91208-1C8E-44E6-814A-8B581A26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E474F45-C75A-4F69-B7AA-0A9BCF66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Media Placeholder 9">
            <a:extLst>
              <a:ext uri="{FF2B5EF4-FFF2-40B4-BE49-F238E27FC236}">
                <a16:creationId xmlns:a16="http://schemas.microsoft.com/office/drawing/2014/main" xmlns="" id="{727675AA-B358-48FA-B1C1-5B98B47443DB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096000" y="2170706"/>
            <a:ext cx="4648200" cy="26108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66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FFA8F3-FA82-40D0-B744-5E2C4DDD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EDB8BA8-6BC4-4015-A959-9EF1184B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9B9215-58F5-4237-86EC-D3DCA521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17FD824-9088-47CD-BCA0-B1F4EDDBCF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67472" y="708473"/>
            <a:ext cx="5523024" cy="5439915"/>
          </a:xfrm>
          <a:custGeom>
            <a:avLst/>
            <a:gdLst>
              <a:gd name="connsiteX0" fmla="*/ 0 w 5523024"/>
              <a:gd name="connsiteY0" fmla="*/ 373567 h 5439915"/>
              <a:gd name="connsiteX1" fmla="*/ 863639 w 5523024"/>
              <a:gd name="connsiteY1" fmla="*/ 373567 h 5439915"/>
              <a:gd name="connsiteX2" fmla="*/ 863639 w 5523024"/>
              <a:gd name="connsiteY2" fmla="*/ 5439915 h 5439915"/>
              <a:gd name="connsiteX3" fmla="*/ 0 w 5523024"/>
              <a:gd name="connsiteY3" fmla="*/ 5439915 h 5439915"/>
              <a:gd name="connsiteX4" fmla="*/ 1863754 w 5523024"/>
              <a:gd name="connsiteY4" fmla="*/ 373566 h 5439915"/>
              <a:gd name="connsiteX5" fmla="*/ 2727393 w 5523024"/>
              <a:gd name="connsiteY5" fmla="*/ 373566 h 5439915"/>
              <a:gd name="connsiteX6" fmla="*/ 2727393 w 5523024"/>
              <a:gd name="connsiteY6" fmla="*/ 5439915 h 5439915"/>
              <a:gd name="connsiteX7" fmla="*/ 1863754 w 5523024"/>
              <a:gd name="connsiteY7" fmla="*/ 5439915 h 5439915"/>
              <a:gd name="connsiteX8" fmla="*/ 2795631 w 5523024"/>
              <a:gd name="connsiteY8" fmla="*/ 221167 h 5439915"/>
              <a:gd name="connsiteX9" fmla="*/ 3659270 w 5523024"/>
              <a:gd name="connsiteY9" fmla="*/ 221167 h 5439915"/>
              <a:gd name="connsiteX10" fmla="*/ 3659270 w 5523024"/>
              <a:gd name="connsiteY10" fmla="*/ 5439915 h 5439915"/>
              <a:gd name="connsiteX11" fmla="*/ 2795631 w 5523024"/>
              <a:gd name="connsiteY11" fmla="*/ 5439915 h 5439915"/>
              <a:gd name="connsiteX12" fmla="*/ 4659385 w 5523024"/>
              <a:gd name="connsiteY12" fmla="*/ 221167 h 5439915"/>
              <a:gd name="connsiteX13" fmla="*/ 5523024 w 5523024"/>
              <a:gd name="connsiteY13" fmla="*/ 221167 h 5439915"/>
              <a:gd name="connsiteX14" fmla="*/ 5523024 w 5523024"/>
              <a:gd name="connsiteY14" fmla="*/ 5439915 h 5439915"/>
              <a:gd name="connsiteX15" fmla="*/ 4659385 w 5523024"/>
              <a:gd name="connsiteY15" fmla="*/ 5439915 h 5439915"/>
              <a:gd name="connsiteX16" fmla="*/ 931877 w 5523024"/>
              <a:gd name="connsiteY16" fmla="*/ 0 h 5439915"/>
              <a:gd name="connsiteX17" fmla="*/ 1795516 w 5523024"/>
              <a:gd name="connsiteY17" fmla="*/ 0 h 5439915"/>
              <a:gd name="connsiteX18" fmla="*/ 1795516 w 5523024"/>
              <a:gd name="connsiteY18" fmla="*/ 5066349 h 5439915"/>
              <a:gd name="connsiteX19" fmla="*/ 931877 w 5523024"/>
              <a:gd name="connsiteY19" fmla="*/ 5066349 h 5439915"/>
              <a:gd name="connsiteX20" fmla="*/ 3727508 w 5523024"/>
              <a:gd name="connsiteY20" fmla="*/ 0 h 5439915"/>
              <a:gd name="connsiteX21" fmla="*/ 4591147 w 5523024"/>
              <a:gd name="connsiteY21" fmla="*/ 0 h 5439915"/>
              <a:gd name="connsiteX22" fmla="*/ 4591147 w 5523024"/>
              <a:gd name="connsiteY22" fmla="*/ 5066349 h 5439915"/>
              <a:gd name="connsiteX23" fmla="*/ 3727508 w 5523024"/>
              <a:gd name="connsiteY23" fmla="*/ 5066349 h 543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523024" h="5439915">
                <a:moveTo>
                  <a:pt x="0" y="373567"/>
                </a:moveTo>
                <a:lnTo>
                  <a:pt x="863639" y="373567"/>
                </a:lnTo>
                <a:lnTo>
                  <a:pt x="863639" y="5439915"/>
                </a:lnTo>
                <a:lnTo>
                  <a:pt x="0" y="5439915"/>
                </a:lnTo>
                <a:close/>
                <a:moveTo>
                  <a:pt x="1863754" y="373566"/>
                </a:moveTo>
                <a:lnTo>
                  <a:pt x="2727393" y="373566"/>
                </a:lnTo>
                <a:lnTo>
                  <a:pt x="2727393" y="5439915"/>
                </a:lnTo>
                <a:lnTo>
                  <a:pt x="1863754" y="5439915"/>
                </a:lnTo>
                <a:close/>
                <a:moveTo>
                  <a:pt x="2795631" y="221167"/>
                </a:moveTo>
                <a:lnTo>
                  <a:pt x="3659270" y="221167"/>
                </a:lnTo>
                <a:lnTo>
                  <a:pt x="3659270" y="5439915"/>
                </a:lnTo>
                <a:lnTo>
                  <a:pt x="2795631" y="5439915"/>
                </a:lnTo>
                <a:close/>
                <a:moveTo>
                  <a:pt x="4659385" y="221167"/>
                </a:moveTo>
                <a:lnTo>
                  <a:pt x="5523024" y="221167"/>
                </a:lnTo>
                <a:lnTo>
                  <a:pt x="5523024" y="5439915"/>
                </a:lnTo>
                <a:lnTo>
                  <a:pt x="4659385" y="5439915"/>
                </a:lnTo>
                <a:close/>
                <a:moveTo>
                  <a:pt x="931877" y="0"/>
                </a:moveTo>
                <a:lnTo>
                  <a:pt x="1795516" y="0"/>
                </a:lnTo>
                <a:lnTo>
                  <a:pt x="1795516" y="5066349"/>
                </a:lnTo>
                <a:lnTo>
                  <a:pt x="931877" y="5066349"/>
                </a:lnTo>
                <a:close/>
                <a:moveTo>
                  <a:pt x="3727508" y="0"/>
                </a:moveTo>
                <a:lnTo>
                  <a:pt x="4591147" y="0"/>
                </a:lnTo>
                <a:lnTo>
                  <a:pt x="4591147" y="5066349"/>
                </a:lnTo>
                <a:lnTo>
                  <a:pt x="3727508" y="506634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9659E25B-AC41-4220-B7EB-4171260D1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34440" y="1311966"/>
            <a:ext cx="4114800" cy="131759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43614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22860B9-12F7-48F6-B828-46F31879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4B30C79-6282-4A98-B155-3483B56D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562DD2-3853-45D2-B2FE-FE6EF9F8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12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F2F400-9E5F-4582-A7D1-E4F7E09C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5DF9C8-6927-41D9-BE4B-36351B00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228962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1DC5920-40A0-48F2-811D-C0761FD1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3368" y="6356350"/>
            <a:ext cx="555171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xmlns="" id="{98A3D746-68AF-4D14-93D1-5CC4B1854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23372" y="-815154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xmlns="" id="{6CCCCBC0-1866-4FE8-B263-52676651F5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3372" y="1275393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xmlns="" id="{66D321B2-47AC-48CA-A41B-895BA90C0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23372" y="3365940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xmlns="" id="{DD06B7E9-BC44-47F4-A75B-8334E2FD52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23372" y="5456487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xmlns="" id="{1EE47DD6-AC01-432C-831F-77586BCC3BB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78482" y="4428556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xmlns="" id="{59FAF888-D431-4CC6-9CBB-1514477596E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78482" y="2338009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xmlns="" id="{0478865B-212C-4302-A6B0-F235E54375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78482" y="247462"/>
            <a:ext cx="1797782" cy="179972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4060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44E1E4-126D-48C8-B652-245BC93D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E8E7B6-1D5D-4DFE-BFB8-08F12C77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714FEF-A5E7-483F-AFB4-D741EB93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C6D0CA0-1FA0-40A1-AC43-E1C6DDD635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02620" y="2298691"/>
            <a:ext cx="663934" cy="6639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FA29A77C-7228-4831-A8C9-8594391E0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2620" y="4117009"/>
            <a:ext cx="663934" cy="6639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18D74219-4053-40B5-9E43-F0EE666D45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91162" y="3254169"/>
            <a:ext cx="663934" cy="6639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13731221-BE82-4959-B49B-6F10919803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91162" y="5009601"/>
            <a:ext cx="663934" cy="663934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152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E56D34-3751-478D-AD43-F626C7C8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888D66-B4F9-4BE8-A98F-F5BF144F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F2AD78-3379-49DC-ACCA-94EAC51C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7491A51F-B132-4C21-AC1E-CCBEBB337C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46500" y="1473200"/>
            <a:ext cx="742950" cy="74295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xmlns="" id="{9A7D6FC4-B0C0-432B-9398-F07BEAA931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7970" y="3219450"/>
            <a:ext cx="862330" cy="86233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46667767-FC00-4214-95C0-3081FDD069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84170" y="4490720"/>
            <a:ext cx="862330" cy="86233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xmlns="" id="{31D8CBD7-848D-40AC-86DE-47586604E2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96890" y="3091815"/>
            <a:ext cx="674370" cy="67437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xmlns="" id="{67048260-A896-4FB6-9885-4F013EA9E30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2990" y="2623185"/>
            <a:ext cx="308610" cy="30861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00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xmlns="" id="{24EEF716-610D-4C42-8AA8-9BA0F45404E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52725" y="2359660"/>
            <a:ext cx="308610" cy="30861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00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xmlns="" id="{46DD7D0E-56CB-410F-AD15-4FF51FEF0B1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01210" y="3877945"/>
            <a:ext cx="466090" cy="4660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00"/>
            </a:lvl1pPr>
          </a:lstStyle>
          <a:p>
            <a:endParaRPr lang="en-US" dirty="0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xmlns="" id="{0EDD61E1-0948-49D1-991F-0D7E40BBA5C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73400" y="2614295"/>
            <a:ext cx="1263650" cy="126365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xmlns="" id="{7675621D-699E-4270-A814-3A37CFAC306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90370" y="2158365"/>
            <a:ext cx="420370" cy="42037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04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81FA8A0E-199E-4F93-80AE-96540EF369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97068" y="704849"/>
            <a:ext cx="3186113" cy="54459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51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xmlns="" id="{EF3BF7B4-B242-4EC2-B7C0-8626DD6534A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frame">
            <a:avLst>
              <a:gd name="adj1" fmla="val 102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979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50" r:id="rId16"/>
    <p:sldLayoutId id="2147483652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60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F9D161A8-F170-4C86-904A-1514C81C3B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1" b="5131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430608B-0699-459E-AEF8-5A0B5450FE05}"/>
              </a:ext>
            </a:extLst>
          </p:cNvPr>
          <p:cNvSpPr/>
          <p:nvPr/>
        </p:nvSpPr>
        <p:spPr>
          <a:xfrm>
            <a:off x="695326" y="682626"/>
            <a:ext cx="10796587" cy="5459412"/>
          </a:xfrm>
          <a:prstGeom prst="rect">
            <a:avLst/>
          </a:prstGeom>
          <a:gradFill>
            <a:gsLst>
              <a:gs pos="7000">
                <a:srgbClr val="F25245">
                  <a:alpha val="64000"/>
                </a:srgbClr>
              </a:gs>
              <a:gs pos="100000">
                <a:srgbClr val="273445">
                  <a:alpha val="78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583DBDA-88B7-493D-9B65-582E914C9A41}"/>
              </a:ext>
            </a:extLst>
          </p:cNvPr>
          <p:cNvSpPr txBox="1"/>
          <p:nvPr/>
        </p:nvSpPr>
        <p:spPr>
          <a:xfrm>
            <a:off x="-1738416" y="2676325"/>
            <a:ext cx="15664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ROAD TRAFFIC SIGN RECOGNITION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6F30545-2ADD-4CCF-ADD5-F28E84BC799E}"/>
              </a:ext>
            </a:extLst>
          </p:cNvPr>
          <p:cNvSpPr txBox="1"/>
          <p:nvPr/>
        </p:nvSpPr>
        <p:spPr>
          <a:xfrm>
            <a:off x="7427351" y="5489908"/>
            <a:ext cx="3935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 smtClean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Hardesh Kumar</a:t>
            </a:r>
          </a:p>
          <a:p>
            <a:pPr algn="r"/>
            <a:endParaRPr lang="en-US" sz="2400" i="1" dirty="0">
              <a:solidFill>
                <a:schemeClr val="bg1"/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B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C2413E75-1777-4005-A89C-2B764D71823A}"/>
              </a:ext>
            </a:extLst>
          </p:cNvPr>
          <p:cNvSpPr/>
          <p:nvPr/>
        </p:nvSpPr>
        <p:spPr>
          <a:xfrm>
            <a:off x="699247" y="704851"/>
            <a:ext cx="6269849" cy="5441950"/>
          </a:xfrm>
          <a:custGeom>
            <a:avLst/>
            <a:gdLst>
              <a:gd name="connsiteX0" fmla="*/ 0 w 6269849"/>
              <a:gd name="connsiteY0" fmla="*/ 0 h 5441950"/>
              <a:gd name="connsiteX1" fmla="*/ 6202008 w 6269849"/>
              <a:gd name="connsiteY1" fmla="*/ 0 h 5441950"/>
              <a:gd name="connsiteX2" fmla="*/ 6029119 w 6269849"/>
              <a:gd name="connsiteY2" fmla="*/ 231201 h 5441950"/>
              <a:gd name="connsiteX3" fmla="*/ 5282454 w 6269849"/>
              <a:gd name="connsiteY3" fmla="*/ 2675614 h 5441950"/>
              <a:gd name="connsiteX4" fmla="*/ 6029119 w 6269849"/>
              <a:gd name="connsiteY4" fmla="*/ 5120027 h 5441950"/>
              <a:gd name="connsiteX5" fmla="*/ 6269849 w 6269849"/>
              <a:gd name="connsiteY5" fmla="*/ 5441950 h 5441950"/>
              <a:gd name="connsiteX6" fmla="*/ 0 w 6269849"/>
              <a:gd name="connsiteY6" fmla="*/ 5441950 h 544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69849" h="5441950">
                <a:moveTo>
                  <a:pt x="0" y="0"/>
                </a:moveTo>
                <a:lnTo>
                  <a:pt x="6202008" y="0"/>
                </a:lnTo>
                <a:lnTo>
                  <a:pt x="6029119" y="231201"/>
                </a:lnTo>
                <a:cubicBezTo>
                  <a:pt x="5557714" y="928973"/>
                  <a:pt x="5282454" y="1770149"/>
                  <a:pt x="5282454" y="2675614"/>
                </a:cubicBezTo>
                <a:cubicBezTo>
                  <a:pt x="5282454" y="3581080"/>
                  <a:pt x="5557714" y="4422255"/>
                  <a:pt x="6029119" y="5120027"/>
                </a:cubicBezTo>
                <a:lnTo>
                  <a:pt x="6269849" y="5441950"/>
                </a:lnTo>
                <a:lnTo>
                  <a:pt x="0" y="54419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7169B9F1-8333-4C3A-933D-B1F9C10587F5}"/>
              </a:ext>
            </a:extLst>
          </p:cNvPr>
          <p:cNvGrpSpPr/>
          <p:nvPr/>
        </p:nvGrpSpPr>
        <p:grpSpPr>
          <a:xfrm>
            <a:off x="1293330" y="5113391"/>
            <a:ext cx="1820714" cy="640026"/>
            <a:chOff x="2183877" y="4228110"/>
            <a:chExt cx="1820714" cy="64002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xmlns="" id="{E9F16CDD-FADE-4805-BE6A-FA2557096397}"/>
                </a:ext>
              </a:extLst>
            </p:cNvPr>
            <p:cNvGrpSpPr/>
            <p:nvPr/>
          </p:nvGrpSpPr>
          <p:grpSpPr>
            <a:xfrm>
              <a:off x="2183877" y="4228110"/>
              <a:ext cx="1801784" cy="615858"/>
              <a:chOff x="2273069" y="3077762"/>
              <a:chExt cx="1801784" cy="615858"/>
            </a:xfrm>
            <a:effectLst>
              <a:outerShdw blurRad="76200" dist="38100" dir="2700000" algn="tl" rotWithShape="0">
                <a:prstClr val="black">
                  <a:alpha val="12000"/>
                </a:prstClr>
              </a:outerShdw>
            </a:effectLst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xmlns="" id="{79F4B9C4-B09D-48EB-A835-7A5740780D77}"/>
                  </a:ext>
                </a:extLst>
              </p:cNvPr>
              <p:cNvSpPr/>
              <p:nvPr/>
            </p:nvSpPr>
            <p:spPr>
              <a:xfrm>
                <a:off x="2273069" y="3077762"/>
                <a:ext cx="1801784" cy="615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xmlns="" id="{B8BB7F17-2EA6-4379-859E-67C5B26CA171}"/>
                  </a:ext>
                </a:extLst>
              </p:cNvPr>
              <p:cNvSpPr/>
              <p:nvPr/>
            </p:nvSpPr>
            <p:spPr>
              <a:xfrm>
                <a:off x="3644389" y="3320944"/>
                <a:ext cx="430464" cy="372676"/>
              </a:xfrm>
              <a:custGeom>
                <a:avLst/>
                <a:gdLst>
                  <a:gd name="connsiteX0" fmla="*/ 464458 w 600767"/>
                  <a:gd name="connsiteY0" fmla="*/ 0 h 520116"/>
                  <a:gd name="connsiteX1" fmla="*/ 558063 w 600767"/>
                  <a:gd name="connsiteY1" fmla="*/ 9436 h 520116"/>
                  <a:gd name="connsiteX2" fmla="*/ 600767 w 600767"/>
                  <a:gd name="connsiteY2" fmla="*/ 22693 h 520116"/>
                  <a:gd name="connsiteX3" fmla="*/ 600767 w 600767"/>
                  <a:gd name="connsiteY3" fmla="*/ 520116 h 520116"/>
                  <a:gd name="connsiteX4" fmla="*/ 5611 w 600767"/>
                  <a:gd name="connsiteY4" fmla="*/ 520116 h 520116"/>
                  <a:gd name="connsiteX5" fmla="*/ 0 w 600767"/>
                  <a:gd name="connsiteY5" fmla="*/ 464458 h 520116"/>
                  <a:gd name="connsiteX6" fmla="*/ 464458 w 600767"/>
                  <a:gd name="connsiteY6" fmla="*/ 0 h 520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7" h="520116">
                    <a:moveTo>
                      <a:pt x="464458" y="0"/>
                    </a:moveTo>
                    <a:cubicBezTo>
                      <a:pt x="496522" y="0"/>
                      <a:pt x="527828" y="3249"/>
                      <a:pt x="558063" y="9436"/>
                    </a:cubicBezTo>
                    <a:lnTo>
                      <a:pt x="600767" y="22693"/>
                    </a:lnTo>
                    <a:lnTo>
                      <a:pt x="600767" y="520116"/>
                    </a:lnTo>
                    <a:lnTo>
                      <a:pt x="5611" y="520116"/>
                    </a:lnTo>
                    <a:lnTo>
                      <a:pt x="0" y="464458"/>
                    </a:lnTo>
                    <a:cubicBezTo>
                      <a:pt x="0" y="207945"/>
                      <a:pt x="207945" y="0"/>
                      <a:pt x="464458" y="0"/>
                    </a:cubicBezTo>
                    <a:close/>
                  </a:path>
                </a:pathLst>
              </a:custGeom>
              <a:solidFill>
                <a:srgbClr val="3BBE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9F8CFE95-39F1-40CE-9CA5-AA64A43390DC}"/>
                </a:ext>
              </a:extLst>
            </p:cNvPr>
            <p:cNvSpPr txBox="1"/>
            <p:nvPr/>
          </p:nvSpPr>
          <p:spPr>
            <a:xfrm>
              <a:off x="3599075" y="4468026"/>
              <a:ext cx="4055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C3D3581B-023D-4E27-BA70-993060AB2F91}"/>
                </a:ext>
              </a:extLst>
            </p:cNvPr>
            <p:cNvSpPr txBox="1"/>
            <p:nvPr/>
          </p:nvSpPr>
          <p:spPr>
            <a:xfrm>
              <a:off x="2183879" y="4236061"/>
              <a:ext cx="165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3BBEBE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Summary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F3D60718-3027-40EE-AF08-597F73D6BA64}"/>
              </a:ext>
            </a:extLst>
          </p:cNvPr>
          <p:cNvGrpSpPr/>
          <p:nvPr/>
        </p:nvGrpSpPr>
        <p:grpSpPr>
          <a:xfrm>
            <a:off x="1293330" y="4390486"/>
            <a:ext cx="1820714" cy="640026"/>
            <a:chOff x="2183877" y="4228110"/>
            <a:chExt cx="1820714" cy="64002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2D408ACB-DA4D-4783-A62C-04F5497C8E93}"/>
                </a:ext>
              </a:extLst>
            </p:cNvPr>
            <p:cNvGrpSpPr/>
            <p:nvPr/>
          </p:nvGrpSpPr>
          <p:grpSpPr>
            <a:xfrm>
              <a:off x="2183877" y="4228110"/>
              <a:ext cx="1801784" cy="615858"/>
              <a:chOff x="2273069" y="3077762"/>
              <a:chExt cx="1801784" cy="615858"/>
            </a:xfrm>
            <a:effectLst>
              <a:outerShdw blurRad="76200" dist="38100" dir="2700000" algn="tl" rotWithShape="0">
                <a:prstClr val="black">
                  <a:alpha val="12000"/>
                </a:prstClr>
              </a:outerShdw>
            </a:effectLst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id="{E3FD60ED-D499-47B1-A1D6-73D5032A32D0}"/>
                  </a:ext>
                </a:extLst>
              </p:cNvPr>
              <p:cNvSpPr/>
              <p:nvPr/>
            </p:nvSpPr>
            <p:spPr>
              <a:xfrm>
                <a:off x="2273069" y="3077762"/>
                <a:ext cx="1801784" cy="615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xmlns="" id="{86343E20-719B-4018-9220-97E07CF9DB3F}"/>
                  </a:ext>
                </a:extLst>
              </p:cNvPr>
              <p:cNvSpPr/>
              <p:nvPr/>
            </p:nvSpPr>
            <p:spPr>
              <a:xfrm>
                <a:off x="3644389" y="3320944"/>
                <a:ext cx="430464" cy="372676"/>
              </a:xfrm>
              <a:custGeom>
                <a:avLst/>
                <a:gdLst>
                  <a:gd name="connsiteX0" fmla="*/ 464458 w 600767"/>
                  <a:gd name="connsiteY0" fmla="*/ 0 h 520116"/>
                  <a:gd name="connsiteX1" fmla="*/ 558063 w 600767"/>
                  <a:gd name="connsiteY1" fmla="*/ 9436 h 520116"/>
                  <a:gd name="connsiteX2" fmla="*/ 600767 w 600767"/>
                  <a:gd name="connsiteY2" fmla="*/ 22693 h 520116"/>
                  <a:gd name="connsiteX3" fmla="*/ 600767 w 600767"/>
                  <a:gd name="connsiteY3" fmla="*/ 520116 h 520116"/>
                  <a:gd name="connsiteX4" fmla="*/ 5611 w 600767"/>
                  <a:gd name="connsiteY4" fmla="*/ 520116 h 520116"/>
                  <a:gd name="connsiteX5" fmla="*/ 0 w 600767"/>
                  <a:gd name="connsiteY5" fmla="*/ 464458 h 520116"/>
                  <a:gd name="connsiteX6" fmla="*/ 464458 w 600767"/>
                  <a:gd name="connsiteY6" fmla="*/ 0 h 520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7" h="520116">
                    <a:moveTo>
                      <a:pt x="464458" y="0"/>
                    </a:moveTo>
                    <a:cubicBezTo>
                      <a:pt x="496522" y="0"/>
                      <a:pt x="527828" y="3249"/>
                      <a:pt x="558063" y="9436"/>
                    </a:cubicBezTo>
                    <a:lnTo>
                      <a:pt x="600767" y="22693"/>
                    </a:lnTo>
                    <a:lnTo>
                      <a:pt x="600767" y="520116"/>
                    </a:lnTo>
                    <a:lnTo>
                      <a:pt x="5611" y="520116"/>
                    </a:lnTo>
                    <a:lnTo>
                      <a:pt x="0" y="464458"/>
                    </a:lnTo>
                    <a:cubicBezTo>
                      <a:pt x="0" y="207945"/>
                      <a:pt x="207945" y="0"/>
                      <a:pt x="464458" y="0"/>
                    </a:cubicBezTo>
                    <a:close/>
                  </a:path>
                </a:pathLst>
              </a:custGeom>
              <a:solidFill>
                <a:srgbClr val="695E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4E1D7865-EC85-46CA-8B54-A3E347ED03E5}"/>
                </a:ext>
              </a:extLst>
            </p:cNvPr>
            <p:cNvSpPr txBox="1"/>
            <p:nvPr/>
          </p:nvSpPr>
          <p:spPr>
            <a:xfrm>
              <a:off x="3599075" y="4468026"/>
              <a:ext cx="4055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66104B2-668E-41AB-82AB-0EFDB7B822D3}"/>
                </a:ext>
              </a:extLst>
            </p:cNvPr>
            <p:cNvSpPr txBox="1"/>
            <p:nvPr/>
          </p:nvSpPr>
          <p:spPr>
            <a:xfrm>
              <a:off x="2183879" y="4236061"/>
              <a:ext cx="1654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695E78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Demo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50898B45-D4EC-4830-91BE-7F3833C7054A}"/>
              </a:ext>
            </a:extLst>
          </p:cNvPr>
          <p:cNvGrpSpPr/>
          <p:nvPr/>
        </p:nvGrpSpPr>
        <p:grpSpPr>
          <a:xfrm>
            <a:off x="3194643" y="4390486"/>
            <a:ext cx="1820714" cy="640026"/>
            <a:chOff x="2183877" y="4228110"/>
            <a:chExt cx="1820714" cy="64002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xmlns="" id="{AE524499-34F8-4BD0-B37F-B1065ECB30B4}"/>
                </a:ext>
              </a:extLst>
            </p:cNvPr>
            <p:cNvGrpSpPr/>
            <p:nvPr/>
          </p:nvGrpSpPr>
          <p:grpSpPr>
            <a:xfrm>
              <a:off x="2183877" y="4228110"/>
              <a:ext cx="1801784" cy="615858"/>
              <a:chOff x="2273069" y="3077762"/>
              <a:chExt cx="1801784" cy="615858"/>
            </a:xfrm>
            <a:effectLst>
              <a:outerShdw blurRad="76200" dist="38100" dir="2700000" algn="tl" rotWithShape="0">
                <a:prstClr val="black">
                  <a:alpha val="12000"/>
                </a:prstClr>
              </a:outerShdw>
            </a:effectLst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xmlns="" id="{09434FA3-BE9D-42C8-8679-073EE83F5620}"/>
                  </a:ext>
                </a:extLst>
              </p:cNvPr>
              <p:cNvSpPr/>
              <p:nvPr/>
            </p:nvSpPr>
            <p:spPr>
              <a:xfrm>
                <a:off x="2273069" y="3077762"/>
                <a:ext cx="1801784" cy="615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F31AB15F-0688-47A9-9C92-3EF168F2C36B}"/>
                  </a:ext>
                </a:extLst>
              </p:cNvPr>
              <p:cNvSpPr/>
              <p:nvPr/>
            </p:nvSpPr>
            <p:spPr>
              <a:xfrm>
                <a:off x="3644389" y="3320944"/>
                <a:ext cx="430464" cy="372676"/>
              </a:xfrm>
              <a:custGeom>
                <a:avLst/>
                <a:gdLst>
                  <a:gd name="connsiteX0" fmla="*/ 464458 w 600767"/>
                  <a:gd name="connsiteY0" fmla="*/ 0 h 520116"/>
                  <a:gd name="connsiteX1" fmla="*/ 558063 w 600767"/>
                  <a:gd name="connsiteY1" fmla="*/ 9436 h 520116"/>
                  <a:gd name="connsiteX2" fmla="*/ 600767 w 600767"/>
                  <a:gd name="connsiteY2" fmla="*/ 22693 h 520116"/>
                  <a:gd name="connsiteX3" fmla="*/ 600767 w 600767"/>
                  <a:gd name="connsiteY3" fmla="*/ 520116 h 520116"/>
                  <a:gd name="connsiteX4" fmla="*/ 5611 w 600767"/>
                  <a:gd name="connsiteY4" fmla="*/ 520116 h 520116"/>
                  <a:gd name="connsiteX5" fmla="*/ 0 w 600767"/>
                  <a:gd name="connsiteY5" fmla="*/ 464458 h 520116"/>
                  <a:gd name="connsiteX6" fmla="*/ 464458 w 600767"/>
                  <a:gd name="connsiteY6" fmla="*/ 0 h 520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7" h="520116">
                    <a:moveTo>
                      <a:pt x="464458" y="0"/>
                    </a:moveTo>
                    <a:cubicBezTo>
                      <a:pt x="496522" y="0"/>
                      <a:pt x="527828" y="3249"/>
                      <a:pt x="558063" y="9436"/>
                    </a:cubicBezTo>
                    <a:lnTo>
                      <a:pt x="600767" y="22693"/>
                    </a:lnTo>
                    <a:lnTo>
                      <a:pt x="600767" y="520116"/>
                    </a:lnTo>
                    <a:lnTo>
                      <a:pt x="5611" y="520116"/>
                    </a:lnTo>
                    <a:lnTo>
                      <a:pt x="0" y="464458"/>
                    </a:lnTo>
                    <a:cubicBezTo>
                      <a:pt x="0" y="207945"/>
                      <a:pt x="207945" y="0"/>
                      <a:pt x="464458" y="0"/>
                    </a:cubicBezTo>
                    <a:close/>
                  </a:path>
                </a:pathLst>
              </a:custGeom>
              <a:solidFill>
                <a:srgbClr val="9C5D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8223A643-737E-4C83-95AA-C42D3C7D61A4}"/>
                </a:ext>
              </a:extLst>
            </p:cNvPr>
            <p:cNvSpPr txBox="1"/>
            <p:nvPr/>
          </p:nvSpPr>
          <p:spPr>
            <a:xfrm>
              <a:off x="3599075" y="4468026"/>
              <a:ext cx="4055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71DA442C-7758-4313-BC40-086BCC045AC7}"/>
                </a:ext>
              </a:extLst>
            </p:cNvPr>
            <p:cNvSpPr txBox="1"/>
            <p:nvPr/>
          </p:nvSpPr>
          <p:spPr>
            <a:xfrm>
              <a:off x="2183879" y="4236061"/>
              <a:ext cx="16542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9C5D71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Building The Project</a:t>
              </a:r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AF29279F-E419-4BE8-9EC7-F8315CB24C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8" r="9868"/>
          <a:stretch>
            <a:fillRect/>
          </a:stretch>
        </p:blipFill>
        <p:spPr/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C9C70684-E14A-488D-A221-84A027954E8F}"/>
              </a:ext>
            </a:extLst>
          </p:cNvPr>
          <p:cNvSpPr txBox="1"/>
          <p:nvPr/>
        </p:nvSpPr>
        <p:spPr>
          <a:xfrm>
            <a:off x="1163880" y="1255412"/>
            <a:ext cx="3085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Our Topics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ADAADFA7-9137-43B6-ACC8-334AB866EBBF}"/>
              </a:ext>
            </a:extLst>
          </p:cNvPr>
          <p:cNvGrpSpPr/>
          <p:nvPr/>
        </p:nvGrpSpPr>
        <p:grpSpPr>
          <a:xfrm>
            <a:off x="1293330" y="3643413"/>
            <a:ext cx="1820714" cy="640026"/>
            <a:chOff x="2183877" y="4228110"/>
            <a:chExt cx="1820714" cy="6400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D5D28405-09C9-4DBB-8AFF-D92192FD6CCB}"/>
                </a:ext>
              </a:extLst>
            </p:cNvPr>
            <p:cNvGrpSpPr/>
            <p:nvPr/>
          </p:nvGrpSpPr>
          <p:grpSpPr>
            <a:xfrm>
              <a:off x="2183877" y="4228110"/>
              <a:ext cx="1801784" cy="615858"/>
              <a:chOff x="2273069" y="3077762"/>
              <a:chExt cx="1801784" cy="615858"/>
            </a:xfrm>
            <a:effectLst>
              <a:outerShdw blurRad="76200" dist="38100" dir="2700000" algn="tl" rotWithShape="0">
                <a:prstClr val="black">
                  <a:alpha val="12000"/>
                </a:prstClr>
              </a:outerShdw>
            </a:effectLst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0B74A4A8-7C7D-43A3-9976-6078310D29CE}"/>
                  </a:ext>
                </a:extLst>
              </p:cNvPr>
              <p:cNvSpPr/>
              <p:nvPr/>
            </p:nvSpPr>
            <p:spPr>
              <a:xfrm>
                <a:off x="2273069" y="3077762"/>
                <a:ext cx="1801784" cy="615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xmlns="" id="{7AF6C5AD-DC74-4C53-BB89-6EC114D201E5}"/>
                  </a:ext>
                </a:extLst>
              </p:cNvPr>
              <p:cNvSpPr/>
              <p:nvPr/>
            </p:nvSpPr>
            <p:spPr>
              <a:xfrm>
                <a:off x="3644389" y="3320944"/>
                <a:ext cx="430464" cy="372676"/>
              </a:xfrm>
              <a:custGeom>
                <a:avLst/>
                <a:gdLst>
                  <a:gd name="connsiteX0" fmla="*/ 464458 w 600767"/>
                  <a:gd name="connsiteY0" fmla="*/ 0 h 520116"/>
                  <a:gd name="connsiteX1" fmla="*/ 558063 w 600767"/>
                  <a:gd name="connsiteY1" fmla="*/ 9436 h 520116"/>
                  <a:gd name="connsiteX2" fmla="*/ 600767 w 600767"/>
                  <a:gd name="connsiteY2" fmla="*/ 22693 h 520116"/>
                  <a:gd name="connsiteX3" fmla="*/ 600767 w 600767"/>
                  <a:gd name="connsiteY3" fmla="*/ 520116 h 520116"/>
                  <a:gd name="connsiteX4" fmla="*/ 5611 w 600767"/>
                  <a:gd name="connsiteY4" fmla="*/ 520116 h 520116"/>
                  <a:gd name="connsiteX5" fmla="*/ 0 w 600767"/>
                  <a:gd name="connsiteY5" fmla="*/ 464458 h 520116"/>
                  <a:gd name="connsiteX6" fmla="*/ 464458 w 600767"/>
                  <a:gd name="connsiteY6" fmla="*/ 0 h 520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7" h="520116">
                    <a:moveTo>
                      <a:pt x="464458" y="0"/>
                    </a:moveTo>
                    <a:cubicBezTo>
                      <a:pt x="496522" y="0"/>
                      <a:pt x="527828" y="3249"/>
                      <a:pt x="558063" y="9436"/>
                    </a:cubicBezTo>
                    <a:lnTo>
                      <a:pt x="600767" y="22693"/>
                    </a:lnTo>
                    <a:lnTo>
                      <a:pt x="600767" y="520116"/>
                    </a:lnTo>
                    <a:lnTo>
                      <a:pt x="5611" y="520116"/>
                    </a:lnTo>
                    <a:lnTo>
                      <a:pt x="0" y="464458"/>
                    </a:lnTo>
                    <a:cubicBezTo>
                      <a:pt x="0" y="207945"/>
                      <a:pt x="207945" y="0"/>
                      <a:pt x="464458" y="0"/>
                    </a:cubicBezTo>
                    <a:close/>
                  </a:path>
                </a:pathLst>
              </a:custGeom>
              <a:solidFill>
                <a:srgbClr val="F2524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5BA06BAC-8715-42F9-9F60-04609FA5DA30}"/>
                </a:ext>
              </a:extLst>
            </p:cNvPr>
            <p:cNvSpPr txBox="1"/>
            <p:nvPr/>
          </p:nvSpPr>
          <p:spPr>
            <a:xfrm>
              <a:off x="3599075" y="4468026"/>
              <a:ext cx="4055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A7489CE8-0F2E-4404-B0FF-9CA13857496B}"/>
                </a:ext>
              </a:extLst>
            </p:cNvPr>
            <p:cNvSpPr txBox="1"/>
            <p:nvPr/>
          </p:nvSpPr>
          <p:spPr>
            <a:xfrm>
              <a:off x="2183879" y="4236061"/>
              <a:ext cx="1654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25245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Road Traffic Sign Recognition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1A9B698E-F597-4C53-A17D-6272C5669FBE}"/>
              </a:ext>
            </a:extLst>
          </p:cNvPr>
          <p:cNvGrpSpPr/>
          <p:nvPr/>
        </p:nvGrpSpPr>
        <p:grpSpPr>
          <a:xfrm>
            <a:off x="3194643" y="3643413"/>
            <a:ext cx="1820714" cy="640026"/>
            <a:chOff x="2183877" y="4228110"/>
            <a:chExt cx="1820714" cy="64002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xmlns="" id="{C62321DA-A149-4CA5-9BD6-7F020D17A2DC}"/>
                </a:ext>
              </a:extLst>
            </p:cNvPr>
            <p:cNvGrpSpPr/>
            <p:nvPr/>
          </p:nvGrpSpPr>
          <p:grpSpPr>
            <a:xfrm>
              <a:off x="2183877" y="4228110"/>
              <a:ext cx="1801784" cy="615858"/>
              <a:chOff x="2273069" y="3077762"/>
              <a:chExt cx="1801784" cy="615858"/>
            </a:xfrm>
            <a:effectLst>
              <a:outerShdw blurRad="76200" dist="38100" dir="2700000" algn="tl" rotWithShape="0">
                <a:prstClr val="black">
                  <a:alpha val="12000"/>
                </a:prstClr>
              </a:outerShdw>
            </a:effectLst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xmlns="" id="{5CFD727F-F097-4775-8BD8-8DC05EDE58B4}"/>
                  </a:ext>
                </a:extLst>
              </p:cNvPr>
              <p:cNvSpPr/>
              <p:nvPr/>
            </p:nvSpPr>
            <p:spPr>
              <a:xfrm>
                <a:off x="2273069" y="3077762"/>
                <a:ext cx="1801784" cy="6158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xmlns="" id="{569170FD-C582-42CD-B7CC-4733129694F1}"/>
                  </a:ext>
                </a:extLst>
              </p:cNvPr>
              <p:cNvSpPr/>
              <p:nvPr/>
            </p:nvSpPr>
            <p:spPr>
              <a:xfrm>
                <a:off x="3644389" y="3320944"/>
                <a:ext cx="430464" cy="372676"/>
              </a:xfrm>
              <a:custGeom>
                <a:avLst/>
                <a:gdLst>
                  <a:gd name="connsiteX0" fmla="*/ 464458 w 600767"/>
                  <a:gd name="connsiteY0" fmla="*/ 0 h 520116"/>
                  <a:gd name="connsiteX1" fmla="*/ 558063 w 600767"/>
                  <a:gd name="connsiteY1" fmla="*/ 9436 h 520116"/>
                  <a:gd name="connsiteX2" fmla="*/ 600767 w 600767"/>
                  <a:gd name="connsiteY2" fmla="*/ 22693 h 520116"/>
                  <a:gd name="connsiteX3" fmla="*/ 600767 w 600767"/>
                  <a:gd name="connsiteY3" fmla="*/ 520116 h 520116"/>
                  <a:gd name="connsiteX4" fmla="*/ 5611 w 600767"/>
                  <a:gd name="connsiteY4" fmla="*/ 520116 h 520116"/>
                  <a:gd name="connsiteX5" fmla="*/ 0 w 600767"/>
                  <a:gd name="connsiteY5" fmla="*/ 464458 h 520116"/>
                  <a:gd name="connsiteX6" fmla="*/ 464458 w 600767"/>
                  <a:gd name="connsiteY6" fmla="*/ 0 h 520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0767" h="520116">
                    <a:moveTo>
                      <a:pt x="464458" y="0"/>
                    </a:moveTo>
                    <a:cubicBezTo>
                      <a:pt x="496522" y="0"/>
                      <a:pt x="527828" y="3249"/>
                      <a:pt x="558063" y="9436"/>
                    </a:cubicBezTo>
                    <a:lnTo>
                      <a:pt x="600767" y="22693"/>
                    </a:lnTo>
                    <a:lnTo>
                      <a:pt x="600767" y="520116"/>
                    </a:lnTo>
                    <a:lnTo>
                      <a:pt x="5611" y="520116"/>
                    </a:lnTo>
                    <a:lnTo>
                      <a:pt x="0" y="464458"/>
                    </a:lnTo>
                    <a:cubicBezTo>
                      <a:pt x="0" y="207945"/>
                      <a:pt x="207945" y="0"/>
                      <a:pt x="464458" y="0"/>
                    </a:cubicBezTo>
                    <a:close/>
                  </a:path>
                </a:pathLst>
              </a:custGeom>
              <a:solidFill>
                <a:srgbClr val="FFA9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8B8B6A39-9D38-43F4-9FF6-26F851495706}"/>
                </a:ext>
              </a:extLst>
            </p:cNvPr>
            <p:cNvSpPr txBox="1"/>
            <p:nvPr/>
          </p:nvSpPr>
          <p:spPr>
            <a:xfrm>
              <a:off x="3599075" y="4468026"/>
              <a:ext cx="4055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D5C7DB69-99F0-4CA3-A8B6-62A55953E6D3}"/>
                </a:ext>
              </a:extLst>
            </p:cNvPr>
            <p:cNvSpPr txBox="1"/>
            <p:nvPr/>
          </p:nvSpPr>
          <p:spPr>
            <a:xfrm>
              <a:off x="2183879" y="4236061"/>
              <a:ext cx="16542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A956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Convolutional Neural Networks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E96C5BB-5059-48CB-A9DA-377609063A7A}"/>
              </a:ext>
            </a:extLst>
          </p:cNvPr>
          <p:cNvSpPr/>
          <p:nvPr/>
        </p:nvSpPr>
        <p:spPr>
          <a:xfrm>
            <a:off x="1051560" y="2701962"/>
            <a:ext cx="4060314" cy="784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7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BD851E6-4D93-4808-875B-521FE45F88B6}"/>
              </a:ext>
            </a:extLst>
          </p:cNvPr>
          <p:cNvSpPr/>
          <p:nvPr/>
        </p:nvSpPr>
        <p:spPr>
          <a:xfrm>
            <a:off x="1129665" y="2828925"/>
            <a:ext cx="3105150" cy="2276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64CA526-6677-4417-AB92-4A5730C2CFBB}"/>
              </a:ext>
            </a:extLst>
          </p:cNvPr>
          <p:cNvGrpSpPr/>
          <p:nvPr/>
        </p:nvGrpSpPr>
        <p:grpSpPr>
          <a:xfrm>
            <a:off x="1246395" y="3039912"/>
            <a:ext cx="2855019" cy="1080980"/>
            <a:chOff x="1246395" y="3655797"/>
            <a:chExt cx="2855019" cy="108098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46A1E12B-F817-436F-94E2-5F7731E01E0A}"/>
                </a:ext>
              </a:extLst>
            </p:cNvPr>
            <p:cNvSpPr txBox="1"/>
            <p:nvPr/>
          </p:nvSpPr>
          <p:spPr>
            <a:xfrm>
              <a:off x="1246395" y="4090446"/>
              <a:ext cx="28550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To improve the driver's safety on the road.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50879957-CD43-4A95-845A-AE2DBCE441EC}"/>
                </a:ext>
              </a:extLst>
            </p:cNvPr>
            <p:cNvSpPr txBox="1"/>
            <p:nvPr/>
          </p:nvSpPr>
          <p:spPr>
            <a:xfrm>
              <a:off x="1329054" y="3655797"/>
              <a:ext cx="2689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25245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Purpose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58106A27-B64D-45C9-9E26-0763F3404A91}"/>
              </a:ext>
            </a:extLst>
          </p:cNvPr>
          <p:cNvCxnSpPr>
            <a:cxnSpLocks/>
          </p:cNvCxnSpPr>
          <p:nvPr/>
        </p:nvCxnSpPr>
        <p:spPr>
          <a:xfrm>
            <a:off x="1146335" y="2828924"/>
            <a:ext cx="0" cy="1138238"/>
          </a:xfrm>
          <a:prstGeom prst="line">
            <a:avLst/>
          </a:prstGeom>
          <a:ln w="38100">
            <a:solidFill>
              <a:srgbClr val="D87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B32DBFD-68B8-4B30-B445-9953926E7EC5}"/>
              </a:ext>
            </a:extLst>
          </p:cNvPr>
          <p:cNvCxnSpPr>
            <a:cxnSpLocks/>
          </p:cNvCxnSpPr>
          <p:nvPr/>
        </p:nvCxnSpPr>
        <p:spPr>
          <a:xfrm rot="16200000">
            <a:off x="1696403" y="2277493"/>
            <a:ext cx="0" cy="1138238"/>
          </a:xfrm>
          <a:prstGeom prst="line">
            <a:avLst/>
          </a:prstGeom>
          <a:ln w="38100">
            <a:solidFill>
              <a:srgbClr val="D87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0D336D1D-5BC9-4EAC-8660-D4B2BBD4C548}"/>
              </a:ext>
            </a:extLst>
          </p:cNvPr>
          <p:cNvCxnSpPr>
            <a:cxnSpLocks/>
          </p:cNvCxnSpPr>
          <p:nvPr/>
        </p:nvCxnSpPr>
        <p:spPr>
          <a:xfrm rot="10800000">
            <a:off x="4218145" y="3967162"/>
            <a:ext cx="0" cy="1138238"/>
          </a:xfrm>
          <a:prstGeom prst="line">
            <a:avLst/>
          </a:prstGeom>
          <a:ln w="38100">
            <a:solidFill>
              <a:srgbClr val="D87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EA80407B-06C8-44FD-94F4-573761D0C6B2}"/>
              </a:ext>
            </a:extLst>
          </p:cNvPr>
          <p:cNvCxnSpPr>
            <a:cxnSpLocks/>
          </p:cNvCxnSpPr>
          <p:nvPr/>
        </p:nvCxnSpPr>
        <p:spPr>
          <a:xfrm rot="5400000">
            <a:off x="3665696" y="4518593"/>
            <a:ext cx="0" cy="1138238"/>
          </a:xfrm>
          <a:prstGeom prst="line">
            <a:avLst/>
          </a:prstGeom>
          <a:ln w="38100">
            <a:solidFill>
              <a:srgbClr val="D871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2A9CF0A-4D9B-42A8-BDD0-D22963B1A7A3}"/>
              </a:ext>
            </a:extLst>
          </p:cNvPr>
          <p:cNvSpPr/>
          <p:nvPr/>
        </p:nvSpPr>
        <p:spPr>
          <a:xfrm>
            <a:off x="4543425" y="2828925"/>
            <a:ext cx="3105150" cy="2276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77FBED71-B48C-4C31-BD90-1A57671E60D6}"/>
              </a:ext>
            </a:extLst>
          </p:cNvPr>
          <p:cNvGrpSpPr/>
          <p:nvPr/>
        </p:nvGrpSpPr>
        <p:grpSpPr>
          <a:xfrm>
            <a:off x="4660155" y="3039912"/>
            <a:ext cx="2855019" cy="1850421"/>
            <a:chOff x="4660155" y="3655797"/>
            <a:chExt cx="2855019" cy="185042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05486746-4BC5-4B66-9B57-DC9289CB4A5E}"/>
                </a:ext>
              </a:extLst>
            </p:cNvPr>
            <p:cNvSpPr txBox="1"/>
            <p:nvPr/>
          </p:nvSpPr>
          <p:spPr>
            <a:xfrm>
              <a:off x="4660155" y="4090446"/>
              <a:ext cx="2855019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Informs the condition of roads</a:t>
              </a:r>
              <a:r>
                <a:rPr lang="en-US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Helps regulate traffic.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Reduces accidents.</a:t>
              </a:r>
            </a:p>
            <a:p>
              <a:pPr algn="ctr"/>
              <a:endParaRPr lang="en-US" sz="1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FE6BED11-9D5E-498B-95B8-CA1C624F3D37}"/>
                </a:ext>
              </a:extLst>
            </p:cNvPr>
            <p:cNvSpPr txBox="1"/>
            <p:nvPr/>
          </p:nvSpPr>
          <p:spPr>
            <a:xfrm>
              <a:off x="4742814" y="3655797"/>
              <a:ext cx="2689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A956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Advantages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E7D2F38-127E-488B-9382-9575A01F1973}"/>
              </a:ext>
            </a:extLst>
          </p:cNvPr>
          <p:cNvCxnSpPr>
            <a:cxnSpLocks/>
          </p:cNvCxnSpPr>
          <p:nvPr/>
        </p:nvCxnSpPr>
        <p:spPr>
          <a:xfrm>
            <a:off x="4560095" y="2828924"/>
            <a:ext cx="0" cy="1138238"/>
          </a:xfrm>
          <a:prstGeom prst="line">
            <a:avLst/>
          </a:prstGeom>
          <a:ln w="38100">
            <a:solidFill>
              <a:srgbClr val="FFA9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C2DA4A32-10BE-4B54-9C84-40C9B34C1334}"/>
              </a:ext>
            </a:extLst>
          </p:cNvPr>
          <p:cNvCxnSpPr>
            <a:cxnSpLocks/>
          </p:cNvCxnSpPr>
          <p:nvPr/>
        </p:nvCxnSpPr>
        <p:spPr>
          <a:xfrm rot="16200000">
            <a:off x="5110163" y="2277493"/>
            <a:ext cx="0" cy="1138238"/>
          </a:xfrm>
          <a:prstGeom prst="line">
            <a:avLst/>
          </a:prstGeom>
          <a:ln w="38100">
            <a:solidFill>
              <a:srgbClr val="FFA9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B03DF652-D686-4680-A890-91D4BEE50FA6}"/>
              </a:ext>
            </a:extLst>
          </p:cNvPr>
          <p:cNvCxnSpPr>
            <a:cxnSpLocks/>
          </p:cNvCxnSpPr>
          <p:nvPr/>
        </p:nvCxnSpPr>
        <p:spPr>
          <a:xfrm rot="10800000">
            <a:off x="7631905" y="3967162"/>
            <a:ext cx="0" cy="1138238"/>
          </a:xfrm>
          <a:prstGeom prst="line">
            <a:avLst/>
          </a:prstGeom>
          <a:ln w="38100">
            <a:solidFill>
              <a:srgbClr val="FFA9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B510E53A-D49B-46BA-BDED-AB6DFD5C2A4A}"/>
              </a:ext>
            </a:extLst>
          </p:cNvPr>
          <p:cNvCxnSpPr>
            <a:cxnSpLocks/>
          </p:cNvCxnSpPr>
          <p:nvPr/>
        </p:nvCxnSpPr>
        <p:spPr>
          <a:xfrm rot="5400000">
            <a:off x="7081837" y="4518593"/>
            <a:ext cx="0" cy="1138238"/>
          </a:xfrm>
          <a:prstGeom prst="line">
            <a:avLst/>
          </a:prstGeom>
          <a:ln w="38100">
            <a:solidFill>
              <a:srgbClr val="FFA9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DD03D2D-7F33-4B2F-831C-E2D6A22555F6}"/>
              </a:ext>
            </a:extLst>
          </p:cNvPr>
          <p:cNvSpPr/>
          <p:nvPr/>
        </p:nvSpPr>
        <p:spPr>
          <a:xfrm>
            <a:off x="7954804" y="2828925"/>
            <a:ext cx="3105150" cy="22764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A6EC465-20A4-4DB2-A909-DBF0129E330F}"/>
              </a:ext>
            </a:extLst>
          </p:cNvPr>
          <p:cNvGrpSpPr/>
          <p:nvPr/>
        </p:nvGrpSpPr>
        <p:grpSpPr>
          <a:xfrm>
            <a:off x="8071171" y="3039912"/>
            <a:ext cx="2855747" cy="1357979"/>
            <a:chOff x="8071171" y="3655797"/>
            <a:chExt cx="2855747" cy="135797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A0A5ADA-D5CD-4A2F-9675-325016681CE5}"/>
                </a:ext>
              </a:extLst>
            </p:cNvPr>
            <p:cNvSpPr txBox="1"/>
            <p:nvPr/>
          </p:nvSpPr>
          <p:spPr>
            <a:xfrm>
              <a:off x="8071171" y="4090446"/>
              <a:ext cx="28557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 Fully automated driving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 Driver assistance systems</a:t>
              </a:r>
              <a:endParaRPr lang="en-US" sz="1400" b="1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4DD8561F-57CF-47CD-9005-1775EC48A16D}"/>
                </a:ext>
              </a:extLst>
            </p:cNvPr>
            <p:cNvSpPr txBox="1"/>
            <p:nvPr/>
          </p:nvSpPr>
          <p:spPr>
            <a:xfrm>
              <a:off x="8154193" y="3655797"/>
              <a:ext cx="2689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695E78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Applications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91E41894-2A27-489C-AF85-64069E979DFD}"/>
              </a:ext>
            </a:extLst>
          </p:cNvPr>
          <p:cNvCxnSpPr>
            <a:cxnSpLocks/>
          </p:cNvCxnSpPr>
          <p:nvPr/>
        </p:nvCxnSpPr>
        <p:spPr>
          <a:xfrm>
            <a:off x="7971474" y="2828924"/>
            <a:ext cx="0" cy="1138238"/>
          </a:xfrm>
          <a:prstGeom prst="line">
            <a:avLst/>
          </a:prstGeom>
          <a:ln w="38100">
            <a:solidFill>
              <a:srgbClr val="695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78F26B02-6431-4726-9193-DF35C7B53317}"/>
              </a:ext>
            </a:extLst>
          </p:cNvPr>
          <p:cNvCxnSpPr>
            <a:cxnSpLocks/>
          </p:cNvCxnSpPr>
          <p:nvPr/>
        </p:nvCxnSpPr>
        <p:spPr>
          <a:xfrm rot="16200000">
            <a:off x="8521542" y="2277493"/>
            <a:ext cx="0" cy="1138238"/>
          </a:xfrm>
          <a:prstGeom prst="line">
            <a:avLst/>
          </a:prstGeom>
          <a:ln w="38100">
            <a:solidFill>
              <a:srgbClr val="695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629903EE-60BE-4708-A2AF-FDD5FD2F2093}"/>
              </a:ext>
            </a:extLst>
          </p:cNvPr>
          <p:cNvCxnSpPr>
            <a:cxnSpLocks/>
          </p:cNvCxnSpPr>
          <p:nvPr/>
        </p:nvCxnSpPr>
        <p:spPr>
          <a:xfrm rot="10800000">
            <a:off x="11043284" y="3967162"/>
            <a:ext cx="0" cy="1138238"/>
          </a:xfrm>
          <a:prstGeom prst="line">
            <a:avLst/>
          </a:prstGeom>
          <a:ln w="38100">
            <a:solidFill>
              <a:srgbClr val="695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510A5D43-3585-4E4E-B70D-111E31104AF8}"/>
              </a:ext>
            </a:extLst>
          </p:cNvPr>
          <p:cNvCxnSpPr>
            <a:cxnSpLocks/>
          </p:cNvCxnSpPr>
          <p:nvPr/>
        </p:nvCxnSpPr>
        <p:spPr>
          <a:xfrm rot="5400000">
            <a:off x="10493216" y="4518593"/>
            <a:ext cx="0" cy="1138238"/>
          </a:xfrm>
          <a:prstGeom prst="line">
            <a:avLst/>
          </a:prstGeom>
          <a:ln w="38100">
            <a:solidFill>
              <a:srgbClr val="695E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D18FC2E-4BDA-42B6-87D0-B488A86F7ACD}"/>
              </a:ext>
            </a:extLst>
          </p:cNvPr>
          <p:cNvSpPr txBox="1"/>
          <p:nvPr/>
        </p:nvSpPr>
        <p:spPr>
          <a:xfrm>
            <a:off x="2267904" y="763590"/>
            <a:ext cx="7656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25245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Road Traffic Sign Recognition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7E98EB8-5EFD-4DDD-9723-BDA0083DCB01}"/>
              </a:ext>
            </a:extLst>
          </p:cNvPr>
          <p:cNvSpPr txBox="1"/>
          <p:nvPr/>
        </p:nvSpPr>
        <p:spPr>
          <a:xfrm>
            <a:off x="2205996" y="1466491"/>
            <a:ext cx="778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Traffic sign recognition is the process of automatically identifying which of the following class the sign belongs to.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05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"/>
                            </p:stCondLst>
                            <p:childTnLst>
                              <p:par>
                                <p:cTn id="6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50"/>
                            </p:stCondLst>
                            <p:childTnLst>
                              <p:par>
                                <p:cTn id="8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23" grpId="0" animBg="1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xmlns="" id="{963CDDD3-C8BB-4508-9957-B9B3ABD0D2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31" b="30231"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994574E-46D9-4AD5-8A1D-BAC2E99CB3DE}"/>
              </a:ext>
            </a:extLst>
          </p:cNvPr>
          <p:cNvSpPr/>
          <p:nvPr/>
        </p:nvSpPr>
        <p:spPr>
          <a:xfrm>
            <a:off x="708024" y="2489200"/>
            <a:ext cx="10774363" cy="2470150"/>
          </a:xfrm>
          <a:prstGeom prst="rect">
            <a:avLst/>
          </a:prstGeom>
          <a:gradFill>
            <a:gsLst>
              <a:gs pos="7000">
                <a:srgbClr val="F25245">
                  <a:alpha val="50000"/>
                </a:srgbClr>
              </a:gs>
              <a:gs pos="100000">
                <a:srgbClr val="FFA95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0D561B-7F8A-4E58-AF03-989F0BC7A38E}"/>
              </a:ext>
            </a:extLst>
          </p:cNvPr>
          <p:cNvSpPr txBox="1"/>
          <p:nvPr/>
        </p:nvSpPr>
        <p:spPr>
          <a:xfrm>
            <a:off x="1973944" y="816202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A956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Convolutional Neural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D16A650-D773-44E5-884F-57D2D38D46ED}"/>
              </a:ext>
            </a:extLst>
          </p:cNvPr>
          <p:cNvSpPr txBox="1"/>
          <p:nvPr/>
        </p:nvSpPr>
        <p:spPr>
          <a:xfrm>
            <a:off x="1973942" y="1519103"/>
            <a:ext cx="824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 </a:t>
            </a:r>
            <a:r>
              <a:rPr lang="en-US" b="1" dirty="0"/>
              <a:t>convolutional neural network</a:t>
            </a:r>
            <a:r>
              <a:rPr lang="en-US" dirty="0"/>
              <a:t> (CNN) is a type of artificial </a:t>
            </a:r>
            <a:r>
              <a:rPr lang="en-US" b="1" dirty="0"/>
              <a:t>neural network</a:t>
            </a:r>
            <a:r>
              <a:rPr lang="en-US" dirty="0"/>
              <a:t> used in image recognition and processing that is specifically designed to process pixel data.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10C4476-953B-49CC-A65D-ADAF6A3370BC}"/>
              </a:ext>
            </a:extLst>
          </p:cNvPr>
          <p:cNvSpPr txBox="1"/>
          <p:nvPr/>
        </p:nvSpPr>
        <p:spPr>
          <a:xfrm>
            <a:off x="721550" y="3241538"/>
            <a:ext cx="250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Use of CNN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5062B4C-56D7-416C-872A-DFEAA6DE332B}"/>
              </a:ext>
            </a:extLst>
          </p:cNvPr>
          <p:cNvSpPr txBox="1"/>
          <p:nvPr/>
        </p:nvSpPr>
        <p:spPr>
          <a:xfrm>
            <a:off x="3301152" y="3241538"/>
            <a:ext cx="250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Image Representation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61F1EA1-7325-467C-A8AE-3E4E435F9871}"/>
              </a:ext>
            </a:extLst>
          </p:cNvPr>
          <p:cNvSpPr txBox="1"/>
          <p:nvPr/>
        </p:nvSpPr>
        <p:spPr>
          <a:xfrm>
            <a:off x="6245776" y="3241538"/>
            <a:ext cx="250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Edge Detection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74069B51-FC6D-43DE-9DAA-AE7FA3090BB0}"/>
              </a:ext>
            </a:extLst>
          </p:cNvPr>
          <p:cNvSpPr txBox="1"/>
          <p:nvPr/>
        </p:nvSpPr>
        <p:spPr>
          <a:xfrm>
            <a:off x="8825378" y="3241538"/>
            <a:ext cx="250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Layers in CNN</a:t>
            </a:r>
          </a:p>
        </p:txBody>
      </p:sp>
    </p:spTree>
    <p:extLst>
      <p:ext uri="{BB962C8B-B14F-4D97-AF65-F5344CB8AC3E}">
        <p14:creationId xmlns:p14="http://schemas.microsoft.com/office/powerpoint/2010/main" val="245230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18" grpId="0"/>
      <p:bldP spid="21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2C5F7DD-BAC9-42AF-9157-76998A500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84" y="2767366"/>
            <a:ext cx="7115032" cy="27326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778758" y="1586947"/>
            <a:ext cx="8634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sz="2000" dirty="0"/>
              <a:t>In simple word what CNN does is, it extract the feature of image and convert it into lower dimension without loosing its characteristics</a:t>
            </a:r>
            <a:r>
              <a:rPr lang="en-US" dirty="0"/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25245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Use of CNN</a:t>
            </a:r>
          </a:p>
        </p:txBody>
      </p:sp>
    </p:spTree>
    <p:extLst>
      <p:ext uri="{BB962C8B-B14F-4D97-AF65-F5344CB8AC3E}">
        <p14:creationId xmlns:p14="http://schemas.microsoft.com/office/powerpoint/2010/main" val="180051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Images are encoded into color channels, the image data is represented into each color intensity in a color channel at a given point, the most common one being RGB, which means Red, Blue and Green. 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Image 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129901F-6EE9-4C1C-A5E3-0A5B3358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2775503"/>
            <a:ext cx="66675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7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Every image has vertical and horizontal edges which actually combining to form a image. Convolution operation is used with some filters for detecting edges. 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Edge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1B4E306-7C79-4A97-A225-A72C6B9EC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294" y="2724423"/>
            <a:ext cx="66675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27626B-21E5-4DE8-8616-EA8CCA9E58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8"/>
          <a:stretch/>
        </p:blipFill>
        <p:spPr>
          <a:xfrm>
            <a:off x="708025" y="2489200"/>
            <a:ext cx="10774362" cy="2470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There are six different layers in CNN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C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Layers in CNN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FDF99D7-D4B1-4A6C-8A0D-A0D1E6546650}"/>
              </a:ext>
            </a:extLst>
          </p:cNvPr>
          <p:cNvSpPr txBox="1"/>
          <p:nvPr/>
        </p:nvSpPr>
        <p:spPr>
          <a:xfrm>
            <a:off x="412680" y="3938053"/>
            <a:ext cx="25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Input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3972465-095F-4B10-9BF7-52ACA64BF176}"/>
              </a:ext>
            </a:extLst>
          </p:cNvPr>
          <p:cNvSpPr txBox="1"/>
          <p:nvPr/>
        </p:nvSpPr>
        <p:spPr>
          <a:xfrm>
            <a:off x="3954388" y="3938053"/>
            <a:ext cx="25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Pooling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8E1C711-3CDE-4779-BA13-32F204FFD94E}"/>
              </a:ext>
            </a:extLst>
          </p:cNvPr>
          <p:cNvSpPr txBox="1"/>
          <p:nvPr/>
        </p:nvSpPr>
        <p:spPr>
          <a:xfrm>
            <a:off x="7496097" y="3938053"/>
            <a:ext cx="25047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Softmax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/logistic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layer</a:t>
            </a:r>
          </a:p>
          <a:p>
            <a:pPr algn="ctr"/>
            <a:endParaRPr lang="en-US" sz="2000" b="1" dirty="0">
              <a:solidFill>
                <a:schemeClr val="bg1"/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5EBDFA4-AEA9-44C7-B126-13BABA38FEC2}"/>
              </a:ext>
            </a:extLst>
          </p:cNvPr>
          <p:cNvSpPr txBox="1"/>
          <p:nvPr/>
        </p:nvSpPr>
        <p:spPr>
          <a:xfrm>
            <a:off x="9295486" y="3938053"/>
            <a:ext cx="25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Output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6788A06-29DA-471B-BCA7-C8623C88805F}"/>
              </a:ext>
            </a:extLst>
          </p:cNvPr>
          <p:cNvSpPr txBox="1"/>
          <p:nvPr/>
        </p:nvSpPr>
        <p:spPr>
          <a:xfrm>
            <a:off x="2196922" y="3945455"/>
            <a:ext cx="25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Convo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B10FE14-30DF-4445-904D-D95EE20F5E2E}"/>
              </a:ext>
            </a:extLst>
          </p:cNvPr>
          <p:cNvSpPr txBox="1"/>
          <p:nvPr/>
        </p:nvSpPr>
        <p:spPr>
          <a:xfrm>
            <a:off x="5666357" y="3947754"/>
            <a:ext cx="2504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Fully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Connected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 layer</a:t>
            </a:r>
          </a:p>
        </p:txBody>
      </p:sp>
    </p:spTree>
    <p:extLst>
      <p:ext uri="{BB962C8B-B14F-4D97-AF65-F5344CB8AC3E}">
        <p14:creationId xmlns:p14="http://schemas.microsoft.com/office/powerpoint/2010/main" val="221819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layer in CNN should contain image data. Image data is represented by three dimensional matrix as we saw earlier.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A30501F-2C1A-4C58-9136-82DBB68517DB}"/>
              </a:ext>
            </a:extLst>
          </p:cNvPr>
          <p:cNvSpPr txBox="1"/>
          <p:nvPr/>
        </p:nvSpPr>
        <p:spPr>
          <a:xfrm>
            <a:off x="1973943" y="2348192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BEBE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Convo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97E5BB-B84F-4333-9F37-A160CC761BED}"/>
              </a:ext>
            </a:extLst>
          </p:cNvPr>
          <p:cNvSpPr txBox="1"/>
          <p:nvPr/>
        </p:nvSpPr>
        <p:spPr>
          <a:xfrm>
            <a:off x="1405719" y="4897712"/>
            <a:ext cx="938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Pooling layer is used to reduce the spatial volume of input image after convolution. 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4A1A461-5DCB-4390-AD30-BA4E573A2659}"/>
              </a:ext>
            </a:extLst>
          </p:cNvPr>
          <p:cNvSpPr txBox="1"/>
          <p:nvPr/>
        </p:nvSpPr>
        <p:spPr>
          <a:xfrm>
            <a:off x="1973943" y="4128271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9C5D7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Pooling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929D0FD-7843-47F3-B333-3EA930AC2B79}"/>
              </a:ext>
            </a:extLst>
          </p:cNvPr>
          <p:cNvSpPr txBox="1"/>
          <p:nvPr/>
        </p:nvSpPr>
        <p:spPr>
          <a:xfrm>
            <a:off x="1405719" y="32325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Convo layer is sometimes called feature extractor layer because features of the image are get extracted within this layer.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2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Fully connected layer involves weights, biases, and neurons. It connects neurons in one layer to neurons in another layer.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Fully Connected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A30501F-2C1A-4C58-9136-82DBB68517DB}"/>
              </a:ext>
            </a:extLst>
          </p:cNvPr>
          <p:cNvSpPr txBox="1"/>
          <p:nvPr/>
        </p:nvSpPr>
        <p:spPr>
          <a:xfrm>
            <a:off x="1973943" y="2348192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SoftMax / logistic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97E5BB-B84F-4333-9F37-A160CC761BED}"/>
              </a:ext>
            </a:extLst>
          </p:cNvPr>
          <p:cNvSpPr txBox="1"/>
          <p:nvPr/>
        </p:nvSpPr>
        <p:spPr>
          <a:xfrm>
            <a:off x="1405719" y="4897712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layer contains the label which is in the form of one-hot encoded.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4A1A461-5DCB-4390-AD30-BA4E573A2659}"/>
              </a:ext>
            </a:extLst>
          </p:cNvPr>
          <p:cNvSpPr txBox="1"/>
          <p:nvPr/>
        </p:nvSpPr>
        <p:spPr>
          <a:xfrm>
            <a:off x="1973943" y="4128271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Output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929D0FD-7843-47F3-B333-3EA930AC2B79}"/>
              </a:ext>
            </a:extLst>
          </p:cNvPr>
          <p:cNvSpPr txBox="1"/>
          <p:nvPr/>
        </p:nvSpPr>
        <p:spPr>
          <a:xfrm>
            <a:off x="1405719" y="3232547"/>
            <a:ext cx="93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Convo layer is sometimes called feature extractor layer because features of the image are get extracted within this layer.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71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C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B80C092-388B-4962-9BA0-68479C1C9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4" y="2498901"/>
            <a:ext cx="10774363" cy="2470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E932564-88B3-4C0C-81AA-B800D96DC4B3}"/>
              </a:ext>
            </a:extLst>
          </p:cNvPr>
          <p:cNvSpPr/>
          <p:nvPr/>
        </p:nvSpPr>
        <p:spPr>
          <a:xfrm>
            <a:off x="708024" y="2498901"/>
            <a:ext cx="10774363" cy="2470150"/>
          </a:xfrm>
          <a:prstGeom prst="rect">
            <a:avLst/>
          </a:prstGeom>
          <a:gradFill>
            <a:gsLst>
              <a:gs pos="7000">
                <a:srgbClr val="F25245">
                  <a:alpha val="50000"/>
                </a:srgbClr>
              </a:gs>
              <a:gs pos="100000">
                <a:srgbClr val="FFA95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5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steps to build our project.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The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ABF33C8-F19C-4EFD-88BA-0F6D157ED0AE}"/>
              </a:ext>
            </a:extLst>
          </p:cNvPr>
          <p:cNvSpPr txBox="1"/>
          <p:nvPr/>
        </p:nvSpPr>
        <p:spPr>
          <a:xfrm>
            <a:off x="1050235" y="2721114"/>
            <a:ext cx="2800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Open up the terminal to access the project folder. To start the jupyter notebook you have to type “Jupyter notebook” in the terminal and it will open up in a browser.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2E2C482-577E-4D67-A63B-C08505E9DBAF}"/>
              </a:ext>
            </a:extLst>
          </p:cNvPr>
          <p:cNvSpPr txBox="1"/>
          <p:nvPr/>
        </p:nvSpPr>
        <p:spPr>
          <a:xfrm>
            <a:off x="926410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A956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Setup</a:t>
            </a:r>
            <a:endParaRPr lang="en-US" b="1" dirty="0">
              <a:solidFill>
                <a:srgbClr val="FFA956"/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EBE6B7A-5015-469C-9DDA-BCF8F10247B4}"/>
              </a:ext>
            </a:extLst>
          </p:cNvPr>
          <p:cNvSpPr txBox="1"/>
          <p:nvPr/>
        </p:nvSpPr>
        <p:spPr>
          <a:xfrm>
            <a:off x="4532658" y="2734320"/>
            <a:ext cx="2800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First import the os module, numpy, pandas, matplotlib, pil, keras and we will explain the role of each function when we use them.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461FF8D-9069-43AD-B73A-5C34D8243D35}"/>
              </a:ext>
            </a:extLst>
          </p:cNvPr>
          <p:cNvSpPr txBox="1"/>
          <p:nvPr/>
        </p:nvSpPr>
        <p:spPr>
          <a:xfrm>
            <a:off x="4408833" y="226850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Importing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439F02AF-4A55-46EC-BF0E-CF7599D4DF7A}"/>
              </a:ext>
            </a:extLst>
          </p:cNvPr>
          <p:cNvSpPr txBox="1"/>
          <p:nvPr/>
        </p:nvSpPr>
        <p:spPr>
          <a:xfrm>
            <a:off x="7862106" y="2692065"/>
            <a:ext cx="2800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An image is made up of pixels and each pixel has 3 values to specify its color. we use the PIL library that can perform many image manipulation tasks.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D5C9853-F283-430C-B7A9-50782A515876}"/>
              </a:ext>
            </a:extLst>
          </p:cNvPr>
          <p:cNvSpPr txBox="1"/>
          <p:nvPr/>
        </p:nvSpPr>
        <p:spPr>
          <a:xfrm>
            <a:off x="7710294" y="225928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Creating the data</a:t>
            </a:r>
          </a:p>
        </p:txBody>
      </p:sp>
    </p:spTree>
    <p:extLst>
      <p:ext uri="{BB962C8B-B14F-4D97-AF65-F5344CB8AC3E}">
        <p14:creationId xmlns:p14="http://schemas.microsoft.com/office/powerpoint/2010/main" val="367668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19" grpId="0"/>
      <p:bldP spid="21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steps to build our project.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The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ABF33C8-F19C-4EFD-88BA-0F6D157ED0AE}"/>
              </a:ext>
            </a:extLst>
          </p:cNvPr>
          <p:cNvSpPr txBox="1"/>
          <p:nvPr/>
        </p:nvSpPr>
        <p:spPr>
          <a:xfrm>
            <a:off x="1050235" y="2721114"/>
            <a:ext cx="280035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We are going to use the sklearn train_test_split() function that will randomly split the data into training and validation set. One hot encoding is a vector representation where all elements of the vector are 0 except one, which has 1 value.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2E2C482-577E-4D67-A63B-C08505E9DBAF}"/>
              </a:ext>
            </a:extLst>
          </p:cNvPr>
          <p:cNvSpPr txBox="1"/>
          <p:nvPr/>
        </p:nvSpPr>
        <p:spPr>
          <a:xfrm>
            <a:off x="926410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A956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Making data ready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A72D3F3-FB62-4D6F-89F1-019217525A99}"/>
              </a:ext>
            </a:extLst>
          </p:cNvPr>
          <p:cNvSpPr txBox="1"/>
          <p:nvPr/>
        </p:nvSpPr>
        <p:spPr>
          <a:xfrm>
            <a:off x="4662294" y="2725103"/>
            <a:ext cx="2800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 A Convolutional Neural Network(CNN) is made up of convolutional and pooling layers. We have also used the dropout layer which is used to handle the overfitting of the model.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B2C9101-4892-4DAE-BB33-CF91DB8AA848}"/>
              </a:ext>
            </a:extLst>
          </p:cNvPr>
          <p:cNvSpPr txBox="1"/>
          <p:nvPr/>
        </p:nvSpPr>
        <p:spPr>
          <a:xfrm>
            <a:off x="4538469" y="225928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0F99130-BD42-4792-B241-6F9E4E12AD64}"/>
              </a:ext>
            </a:extLst>
          </p:cNvPr>
          <p:cNvSpPr txBox="1"/>
          <p:nvPr/>
        </p:nvSpPr>
        <p:spPr>
          <a:xfrm>
            <a:off x="8214761" y="2703660"/>
            <a:ext cx="2800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We use the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model.fit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() function which takes the training set, validation set, batch size and no of epochs.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AD4F716-24CD-41C3-9437-3961F6583979}"/>
              </a:ext>
            </a:extLst>
          </p:cNvPr>
          <p:cNvSpPr txBox="1"/>
          <p:nvPr/>
        </p:nvSpPr>
        <p:spPr>
          <a:xfrm>
            <a:off x="8062949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89794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19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steps to build our project.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The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ABF33C8-F19C-4EFD-88BA-0F6D157ED0AE}"/>
              </a:ext>
            </a:extLst>
          </p:cNvPr>
          <p:cNvSpPr txBox="1"/>
          <p:nvPr/>
        </p:nvSpPr>
        <p:spPr>
          <a:xfrm>
            <a:off x="1050235" y="2721114"/>
            <a:ext cx="280035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We use the model.fit() function which takes the training set, validation set, batch size and no of epochs.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2E2C482-577E-4D67-A63B-C08505E9DBAF}"/>
              </a:ext>
            </a:extLst>
          </p:cNvPr>
          <p:cNvSpPr txBox="1"/>
          <p:nvPr/>
        </p:nvSpPr>
        <p:spPr>
          <a:xfrm>
            <a:off x="926410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A956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A72D3F3-FB62-4D6F-89F1-019217525A99}"/>
              </a:ext>
            </a:extLst>
          </p:cNvPr>
          <p:cNvSpPr txBox="1"/>
          <p:nvPr/>
        </p:nvSpPr>
        <p:spPr>
          <a:xfrm>
            <a:off x="4662294" y="2725103"/>
            <a:ext cx="2800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With the help of matplotlib functions, we will plot the graph of training and validation accuracy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B2C9101-4892-4DAE-BB33-CF91DB8AA848}"/>
              </a:ext>
            </a:extLst>
          </p:cNvPr>
          <p:cNvSpPr txBox="1"/>
          <p:nvPr/>
        </p:nvSpPr>
        <p:spPr>
          <a:xfrm>
            <a:off x="4538469" y="225928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Plotting graph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0F99130-BD42-4792-B241-6F9E4E12AD64}"/>
              </a:ext>
            </a:extLst>
          </p:cNvPr>
          <p:cNvSpPr txBox="1"/>
          <p:nvPr/>
        </p:nvSpPr>
        <p:spPr>
          <a:xfrm>
            <a:off x="8214761" y="2703660"/>
            <a:ext cx="2800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We have a test folder that contains around 12,000 images. The test.csv file contains the path of the image along with the label of the class.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AD4F716-24CD-41C3-9437-3961F6583979}"/>
              </a:ext>
            </a:extLst>
          </p:cNvPr>
          <p:cNvSpPr txBox="1"/>
          <p:nvPr/>
        </p:nvSpPr>
        <p:spPr>
          <a:xfrm>
            <a:off x="8062949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100862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19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90A5390-A9C3-47F1-9DC3-D66CE8476301}"/>
              </a:ext>
            </a:extLst>
          </p:cNvPr>
          <p:cNvSpPr txBox="1"/>
          <p:nvPr/>
        </p:nvSpPr>
        <p:spPr>
          <a:xfrm>
            <a:off x="1405719" y="1586947"/>
            <a:ext cx="93805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steps to build our project.</a:t>
            </a:r>
          </a:p>
          <a:p>
            <a:pPr algn="ctr"/>
            <a:r>
              <a:rPr lang="en-US" dirty="0"/>
              <a:t/>
            </a:r>
            <a:br>
              <a:rPr lang="en-US" dirty="0"/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386238-43CE-40EA-A4A0-C8314DB699DF}"/>
              </a:ext>
            </a:extLst>
          </p:cNvPr>
          <p:cNvSpPr txBox="1"/>
          <p:nvPr/>
        </p:nvSpPr>
        <p:spPr>
          <a:xfrm>
            <a:off x="1973943" y="817506"/>
            <a:ext cx="8244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The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ABF33C8-F19C-4EFD-88BA-0F6D157ED0AE}"/>
              </a:ext>
            </a:extLst>
          </p:cNvPr>
          <p:cNvSpPr txBox="1"/>
          <p:nvPr/>
        </p:nvSpPr>
        <p:spPr>
          <a:xfrm>
            <a:off x="4588566" y="2721114"/>
            <a:ext cx="280035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A graphical user interface will save a lot of time in testing and seeing the results of our model prediction. We used Tkinter, which is an inbuilt library of python to make the GUI.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2E2C482-577E-4D67-A63B-C08505E9DBAF}"/>
              </a:ext>
            </a:extLst>
          </p:cNvPr>
          <p:cNvSpPr txBox="1"/>
          <p:nvPr/>
        </p:nvSpPr>
        <p:spPr>
          <a:xfrm>
            <a:off x="4464741" y="2270878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A956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Building the GUI</a:t>
            </a:r>
          </a:p>
        </p:txBody>
      </p:sp>
    </p:spTree>
    <p:extLst>
      <p:ext uri="{BB962C8B-B14F-4D97-AF65-F5344CB8AC3E}">
        <p14:creationId xmlns:p14="http://schemas.microsoft.com/office/powerpoint/2010/main" val="259535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xmlns="" id="{EFA76865-077C-45C2-92AB-873AE187B019}"/>
              </a:ext>
            </a:extLst>
          </p:cNvPr>
          <p:cNvSpPr/>
          <p:nvPr/>
        </p:nvSpPr>
        <p:spPr>
          <a:xfrm>
            <a:off x="2210131" y="2826854"/>
            <a:ext cx="1013792" cy="1013792"/>
          </a:xfrm>
          <a:prstGeom prst="ellipse">
            <a:avLst/>
          </a:prstGeom>
          <a:solidFill>
            <a:srgbClr val="F252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931FE5-944D-400F-807C-AEFA2AEC82BB}"/>
              </a:ext>
            </a:extLst>
          </p:cNvPr>
          <p:cNvSpPr txBox="1"/>
          <p:nvPr/>
        </p:nvSpPr>
        <p:spPr>
          <a:xfrm>
            <a:off x="1372176" y="3916846"/>
            <a:ext cx="268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Computer vision</a:t>
            </a:r>
            <a:endParaRPr lang="en-US" sz="2400" b="1" dirty="0">
              <a:solidFill>
                <a:srgbClr val="00B050"/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4FA983B-7D0A-4CDE-A1E2-CAD7B7ACE27B}"/>
              </a:ext>
            </a:extLst>
          </p:cNvPr>
          <p:cNvSpPr/>
          <p:nvPr/>
        </p:nvSpPr>
        <p:spPr>
          <a:xfrm>
            <a:off x="5579370" y="2826854"/>
            <a:ext cx="1013792" cy="1013792"/>
          </a:xfrm>
          <a:prstGeom prst="ellipse">
            <a:avLst/>
          </a:prstGeom>
          <a:solidFill>
            <a:srgbClr val="FFA9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1AAAB7-960A-449F-AA09-C0AD6DD90D60}"/>
              </a:ext>
            </a:extLst>
          </p:cNvPr>
          <p:cNvSpPr txBox="1"/>
          <p:nvPr/>
        </p:nvSpPr>
        <p:spPr>
          <a:xfrm>
            <a:off x="4741415" y="3916846"/>
            <a:ext cx="268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Deep Learning techniques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862212D9-F58B-40A1-8005-63861ECE0890}"/>
              </a:ext>
            </a:extLst>
          </p:cNvPr>
          <p:cNvSpPr/>
          <p:nvPr/>
        </p:nvSpPr>
        <p:spPr>
          <a:xfrm>
            <a:off x="9054675" y="2826854"/>
            <a:ext cx="1013792" cy="1013792"/>
          </a:xfrm>
          <a:prstGeom prst="ellipse">
            <a:avLst/>
          </a:prstGeom>
          <a:solidFill>
            <a:srgbClr val="2734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C17262A-9EE9-4795-8C79-086EDFEC13B4}"/>
              </a:ext>
            </a:extLst>
          </p:cNvPr>
          <p:cNvSpPr txBox="1"/>
          <p:nvPr/>
        </p:nvSpPr>
        <p:spPr>
          <a:xfrm>
            <a:off x="8216720" y="3916846"/>
            <a:ext cx="268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Convolutional neural network</a:t>
            </a:r>
            <a:endParaRPr lang="en-US" sz="2400" b="1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2B0E4C9-D19D-4C90-AA38-336EDA9D56BE}"/>
              </a:ext>
            </a:extLst>
          </p:cNvPr>
          <p:cNvSpPr txBox="1"/>
          <p:nvPr/>
        </p:nvSpPr>
        <p:spPr>
          <a:xfrm>
            <a:off x="3901403" y="816202"/>
            <a:ext cx="43891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3BBEBE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8081E15-EDA7-45AB-97E2-ABBA01412D6B}"/>
              </a:ext>
            </a:extLst>
          </p:cNvPr>
          <p:cNvSpPr txBox="1"/>
          <p:nvPr/>
        </p:nvSpPr>
        <p:spPr>
          <a:xfrm>
            <a:off x="2570922" y="1519103"/>
            <a:ext cx="705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Hope you enjoyed and learned a lot with our project.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E02E12-147A-4945-93E1-447C0D6E04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564" y="3055288"/>
            <a:ext cx="556923" cy="556923"/>
          </a:xfrm>
          <a:prstGeom prst="rect">
            <a:avLst/>
          </a:prstGeom>
          <a:solidFill>
            <a:srgbClr val="FF0000">
              <a:alpha val="0"/>
            </a:srgbClr>
          </a:solidFill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58C798FD-D5E0-42BD-98E7-B6911971E8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351" y="3079906"/>
            <a:ext cx="667298" cy="5195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1F363513-638C-42F1-B416-67A26BFF8B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415" y="3057381"/>
            <a:ext cx="592310" cy="5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 animBg="1"/>
      <p:bldP spid="12" grpId="0"/>
      <p:bldP spid="13" grpId="0" animBg="1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xmlns="" id="{90F0567F-F2EF-41CC-A731-9983E593FC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1" b="5131"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430608B-0699-459E-AEF8-5A0B5450FE05}"/>
              </a:ext>
            </a:extLst>
          </p:cNvPr>
          <p:cNvSpPr/>
          <p:nvPr/>
        </p:nvSpPr>
        <p:spPr>
          <a:xfrm>
            <a:off x="695326" y="693738"/>
            <a:ext cx="10796587" cy="5459412"/>
          </a:xfrm>
          <a:prstGeom prst="rect">
            <a:avLst/>
          </a:prstGeom>
          <a:gradFill>
            <a:gsLst>
              <a:gs pos="7000">
                <a:srgbClr val="F25245">
                  <a:alpha val="64000"/>
                </a:srgbClr>
              </a:gs>
              <a:gs pos="100000">
                <a:srgbClr val="273445">
                  <a:alpha val="78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07882800-4F87-4414-875E-C15FCBF3BDB1}"/>
              </a:ext>
            </a:extLst>
          </p:cNvPr>
          <p:cNvGrpSpPr/>
          <p:nvPr/>
        </p:nvGrpSpPr>
        <p:grpSpPr>
          <a:xfrm>
            <a:off x="2565086" y="2383240"/>
            <a:ext cx="7061829" cy="1722189"/>
            <a:chOff x="2565086" y="1971338"/>
            <a:chExt cx="7061829" cy="1722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2583DBDA-88B7-493D-9B65-582E914C9A41}"/>
                </a:ext>
              </a:extLst>
            </p:cNvPr>
            <p:cNvSpPr txBox="1"/>
            <p:nvPr/>
          </p:nvSpPr>
          <p:spPr>
            <a:xfrm>
              <a:off x="3436601" y="1971338"/>
              <a:ext cx="531879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b="1" dirty="0">
                  <a:solidFill>
                    <a:schemeClr val="bg1"/>
                  </a:solidFill>
                  <a:latin typeface="Tw Cen MT" panose="020B0602020104020603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CDB37C46-5F26-46DE-BBB5-265484A0588E}"/>
                </a:ext>
              </a:extLst>
            </p:cNvPr>
            <p:cNvSpPr txBox="1"/>
            <p:nvPr/>
          </p:nvSpPr>
          <p:spPr>
            <a:xfrm>
              <a:off x="2565086" y="3231862"/>
              <a:ext cx="70618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35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1895</TotalTime>
  <Words>698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Tahoma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Microsoft account</cp:lastModifiedBy>
  <cp:revision>111</cp:revision>
  <dcterms:created xsi:type="dcterms:W3CDTF">2019-09-26T18:34:37Z</dcterms:created>
  <dcterms:modified xsi:type="dcterms:W3CDTF">2025-11-06T21:37:26Z</dcterms:modified>
</cp:coreProperties>
</file>